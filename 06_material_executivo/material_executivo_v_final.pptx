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j5fw4EfFdgBa1ChSQ6DRyISd6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tatireginas/tech_challenge_fase_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48056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STATE OF DATA BRASIL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60604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Mercado Brasileiro de Dados, Analytics e IA (2023–2025/26)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0DC"/>
                </a:solidFill>
                <a:latin typeface="Arial"/>
                <a:ea typeface="Arial"/>
                <a:cs typeface="Arial"/>
                <a:sym typeface="Arial"/>
              </a:rPr>
              <a:t>Diagnóstico executivo para apoiar a estratégia de contratação, capacitação e investimento em tecnologia de uma Instituição Financeira de grande porte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598932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Consultoria de Dados &amp; Analytics  |  Pipeline AWS: S3 → Glue → Bronze/Silver → Athena (Gold via CTAS)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5" y="4617424"/>
            <a:ext cx="96012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0DC"/>
                </a:solidFill>
                <a:latin typeface="Arial"/>
                <a:ea typeface="Arial"/>
                <a:cs typeface="Arial"/>
                <a:sym typeface="Arial"/>
              </a:rPr>
              <a:t>GRUPO 7:</a:t>
            </a:r>
            <a:endParaRPr b="0" i="0" sz="1400" u="none" cap="none" strike="noStrike">
              <a:solidFill>
                <a:srgbClr val="C7D0D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B8C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Camila de Oliveira - RM 371409</a:t>
            </a:r>
            <a:endParaRPr b="0" i="0" sz="1200" u="none" cap="none" strike="noStrike">
              <a:solidFill>
                <a:srgbClr val="D4B8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Lucas Zucoloto Soares Valbusa - RM 373425</a:t>
            </a:r>
            <a:endParaRPr b="0" i="0" sz="1200" u="none" cap="none" strike="noStrike">
              <a:solidFill>
                <a:srgbClr val="D4B8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Luysa Brito de Paiva Lima - RM 373813</a:t>
            </a:r>
            <a:endParaRPr b="0" i="0" sz="1200" u="none" cap="none" strike="noStrike">
              <a:solidFill>
                <a:srgbClr val="D4B8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Tatiana Regina da Silva  - RM 373518</a:t>
            </a:r>
            <a:endParaRPr b="0" i="0" sz="1200" u="none" cap="none" strike="noStrike">
              <a:solidFill>
                <a:srgbClr val="D4B8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D4B8C0"/>
                </a:solidFill>
                <a:latin typeface="Arial"/>
                <a:ea typeface="Arial"/>
                <a:cs typeface="Arial"/>
                <a:sym typeface="Arial"/>
              </a:rPr>
              <a:t>Vanessa Gomes Cardoso - RM 373426</a:t>
            </a:r>
            <a:endParaRPr b="0" i="0" sz="1400" u="none" cap="none" strike="noStrike">
              <a:solidFill>
                <a:srgbClr val="C7D0D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868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Por que este diagnóstico agora?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instituição financeira quer expandir sua área de Dados, Analytics e IA e precisa de evidências de mercado — não de suposições — para embasar contratação, capacitação e investimento.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Usamos 3 ciclos da pesquisa State of Data Brasil (Data Hackers + Bain): 2023, 2024 e 2025/2026 juntos, 14.002 respondentes.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 desafio de engenharia: as 3 bases não compartilham o mesmo schema</a:t>
            </a: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por isso</a:t>
            </a: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foi necessário harmonizar </a:t>
            </a: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aproximadamente </a:t>
            </a: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35 campos equivalentes entre os ciclos, com auditoria extensa de qualidade antes de qualquer análise comparativa.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uma base analítica única no AWS Glue Data Catalog, consultável via Amazon Athena, capaz de responder às perguntas de negócio que orientam este material.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0" y="173736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543800" y="18288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14.002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235440" y="182880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respondentes (2023–2025/26)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0" y="315468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543800" y="324612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+27%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235440" y="324612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crescimento no salário médio nominal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315200" y="4572000"/>
            <a:ext cx="4023360" cy="11887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543800" y="46634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98,2%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235440" y="466344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usam IA Generativa no trabalho (2025/26)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Pipeline de dados: do CSV bruto ao insight executivo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5E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6692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1. Ingestão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6692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 CSVs do Kaggle enviados ao S3 via boto3 e versionados </a:t>
            </a:r>
            <a:r>
              <a:rPr lang="en-US" sz="112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na camada </a:t>
            </a: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Bronze via Glue Job </a:t>
            </a:r>
            <a:r>
              <a:rPr lang="en-US" sz="112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2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 forma que</a:t>
            </a: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se auto-cataloga na escrita</a:t>
            </a:r>
            <a:r>
              <a:rPr lang="en-US" sz="112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63347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69748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FE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80720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2. Harmonização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80720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Auditoria de qualidade (nulos, duplicatas, separador diferente em 2023) + mapeamento De/Para de ~35 campos entre os 3 ciclos.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87375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93776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F8CE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4748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3. Camada Silver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4748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Tabela única tb_state_data_silver_v2 em Parquet, particionada por ano_pesquisa, catalogada via saveAsTable.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11403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7804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28776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4. Gold via Athena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8776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lang="en-US" sz="112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Athena materializa as 7 tabelas analíticas direto da Silver via CTAS (CREATE TABLE AS SELECT).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354312" y="26060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418320" y="1737360"/>
            <a:ext cx="2194560" cy="1965960"/>
          </a:xfrm>
          <a:prstGeom prst="roundRect">
            <a:avLst>
              <a:gd fmla="val 3721" name="adj"/>
            </a:avLst>
          </a:prstGeom>
          <a:solidFill>
            <a:srgbClr val="E1D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528048" y="1828800"/>
            <a:ext cx="1975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5. DataViz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528048" y="2194560"/>
            <a:ext cx="19751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Calibri"/>
              <a:buNone/>
            </a:pPr>
            <a:r>
              <a:rPr b="0" i="0" lang="en-US" sz="112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Export CSV via Athena + ferramenta de BI geram os painéis e a narrativa executiva deste material.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00"/>
              <a:buFont typeface="Calibri"/>
              <a:buNone/>
            </a:pPr>
            <a:r>
              <a:rPr b="1" i="1" lang="en-US" sz="110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Ferramentas utilizadas: Amazon S3 · AWS Glue (Jobs + Notebooks + Catalog) · Apache Spark/PySpark · Amazon Athena · BI para DataViz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4526280"/>
            <a:ext cx="11247120" cy="1005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 camada Gold 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materializada diretamente pelo Amazon Athena, via CTAS, a partir da camada Silver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dessa forma conseguimos deixar com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menos um componente n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pipeline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mantendo a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mesma lógica de negócio.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 AWS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538" y="800725"/>
            <a:ext cx="8306925" cy="56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PERFIL PROFISSIONAL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Como está estruturado o mercado brasileiro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estrutura_mercado.png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734056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profissionais_regiao.png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508760"/>
            <a:ext cx="329184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3429000" y="4160520"/>
            <a:ext cx="3291840" cy="185623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593592" y="4251960"/>
            <a:ext cx="2962656" cy="1673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1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Mercado ainda muito concentrado no Sudeste (61-64%), mas com leve avanço de Nordeste e Centro-Oeste entre 2023 e 2025</a:t>
            </a:r>
            <a:r>
              <a:rPr i="1" lang="en-US" sz="11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gerando </a:t>
            </a:r>
            <a:r>
              <a:rPr b="0" i="1" lang="en-US" sz="1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oportunidade para squads distribuídos fora do eixo tradicional.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903720" y="1508760"/>
            <a:ext cx="484632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086600" y="1655064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086600" y="2011680"/>
            <a:ext cx="44805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Analista de Dados/DBA (24,0%), Cientista de Dados (16,9%) e Engenheiro de Dados (16,1%) concentram quase 60% do mercado em 2025.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BI (8,6%) e Analytics Engineer (5,4%) seguem relevantes; cargos de liderança/produto (Data PM, Arquiteto) ainda são minoria.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'Outra Opção' cresce de 9,0% para 10,3%</a:t>
            </a:r>
            <a:r>
              <a:rPr lang="en-US" sz="123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o que mostra um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sinal de que o mercado está criando funções híbridas que as categorias tradicionais não capturam bem.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1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dimensionar o time-alvo priorizando Analista + Cientista + Engenheiro de Dados como núcleo de contratação.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REMUNERAÇÃO E SENIORIDADE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perfis profissionais são mais valorizados (remuneração)?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valorizacao_perfis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8138160" cy="362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457200" y="5532120"/>
            <a:ext cx="8138160" cy="502920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21792" y="5623560"/>
            <a:ext cx="7808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1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Leitura do mapa de calor: quanto mais escura a célula, maior a concentração de respondentes naquela combinação de faixa salarial x senioridade.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778240" y="1508760"/>
            <a:ext cx="297180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961120" y="165506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961120" y="201168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687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concentra a maior densidade na faixa R$ 8-12 mil/mês nos 3 ciclos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teto de carreira estável.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Pleno migra visivelmente: em 2023 a moda estava em R$ 6-8 mil; em 2025 já está em R$ 8-12 mil, a mesma faixa do Sênior.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Compressão salarial Pleno↔Sênior é sinal real de mercado, não possuindo ruído e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repetindo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nos 3 anos.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 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revisar bandas de Pleno para manter diferenciação clara e evitar fricção de retenção.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cenário de diversidade de gênero nas carreiras de dados?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genero_regiao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801368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istribuicao_genero.png"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448" y="1508760"/>
            <a:ext cx="3291840" cy="213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2441448" y="3794760"/>
            <a:ext cx="3291840" cy="2221992"/>
          </a:xfrm>
          <a:prstGeom prst="rect">
            <a:avLst/>
          </a:prstGeom>
          <a:solidFill>
            <a:srgbClr val="FFF7E6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606040" y="3886200"/>
            <a:ext cx="29626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80"/>
              <a:buFont typeface="Calibri"/>
              <a:buNone/>
            </a:pPr>
            <a:r>
              <a:rPr b="0" i="1" lang="en-US" sz="1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Participação feminina cai de forma sustentada nos 3 ciclos: 24,4% (2023) → 23,5% (2024) → 22,0% (2025) </a:t>
            </a:r>
            <a:r>
              <a:rPr i="1" lang="en-US" sz="11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sendo uma</a:t>
            </a:r>
            <a:r>
              <a:rPr b="0" i="1" lang="en-US" sz="1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tendência estrutural, não oscilação pontual.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916168" y="1508760"/>
            <a:ext cx="5815584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099048" y="1655064"/>
            <a:ext cx="5449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099048" y="2011680"/>
            <a:ext cx="5449824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Mulheres estão ainda mais concentradas no Sudeste (63,2%) do que os homens (59,7%), </a:t>
            </a:r>
            <a:r>
              <a:rPr lang="en-US" sz="123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sendo assim,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 distribuição geográfica de quem se identifica como mulher na área é menos diversificada.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Homens têm participação relativamente maior em Nordeste (10,9% vs 10,2%) e Centro-Oeste (6,8% vs 5,4%) do que mulheres.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grupo 'Outro' está fortemente concentrado no Sudeste (75,0%)</a:t>
            </a:r>
            <a:r>
              <a:rPr lang="en-US" sz="123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contudo a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amostra é pequena, </a:t>
            </a:r>
            <a:r>
              <a:rPr lang="en-US" sz="123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exigindo 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leitura com cautela.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 mercado de dados segue predominantemente masculino (~78% em 2025), acima da média de outras áreas de tecnologia.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30"/>
              <a:buFont typeface="Calibri"/>
              <a:buChar char="•"/>
            </a:pPr>
            <a:r>
              <a:rPr b="1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metas de diversidade no funil de contratação e trilhas de desenvolvimento para grupos sub-representados</a:t>
            </a:r>
            <a:r>
              <a:rPr lang="en-US" sz="123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3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 tendência não irá se reverter sozinha, e é ainda mais aguda fora do Sudeste.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 TÉCNICA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tecnologias apresentam maior adoção entre os profissionais?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tecnologias_full.png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1" y="1385970"/>
            <a:ext cx="8229601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548650" y="5515162"/>
            <a:ext cx="54864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Python domina com folga (88-92% de preferência nos 3 ciclos)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sendo uma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base técnica não-negociável para contratação.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PostgreSQL, SQL Server e Databricks lideram bancos de dados; AWS lidera cloud, mas 32,5% não têm preferência definida em 2025.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217925" y="5532125"/>
            <a:ext cx="5486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Microsoft Power BI é a ferramenta de BI dominante (59,0% em 2025), à frente de Tableau e Looker Studio.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Python + SQL como requisito técnico-base em praticamente qualquer contratação de dados; Power BI como padrão de BI corporativo.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GENERATIVA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Qual o índice de adoção de IA Generativa e seu impacto?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ia_adocao_prioridade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063240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3794760" y="1508760"/>
            <a:ext cx="7955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977640" y="165506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977640" y="2011680"/>
            <a:ext cx="7589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607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pessoal de IA Generativa no trabalho salta de 81,0% (2023) para 98,2% (2025)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sendo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praticamente universal entre os profissionais de dados.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Já a fatia de empresas com IA como 'Alta prioridade' + 'Principal prioridade' cresce de 36% para 60% no mesmo período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mesmo sendo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mais lenta que a adoção pessoal.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Há uma lacuna real entre adoção pessoal (quase universal) e priorização institucional (ainda minoritária, mesmo crescendo)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podendo destacar que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os profissionais estão à frente das empresas nesse tema.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'Não é prioridade' cai de 28,8% (2023) para 11,3% (2025)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indicando que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o ceticismo institucional está diminuindo rápido, mesmo que a formalização ainda não tenha alcançado o uso individual.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formalizar a estratégia e a governança de IA Generativa agora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dessa forma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o uso informal e descentralizado pelos próprios profissionais já é maioria absoluta e cresce mais rápido que a supervisão institucional.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DIFERENÇAS ESTRUTURAIS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Existem diferenças relevantes entre regiões, senioridades ou modelos de trabalho?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senioridade_regiao.png"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modelo_regiao.png" id="169" name="Google Shape;1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6120" y="1508760"/>
            <a:ext cx="2660904" cy="4507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6035040" y="1508760"/>
            <a:ext cx="5669280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217920" y="165506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687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ATENÇÃO: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o gráfico 'Modelo x Região' mostra o modelo IDEAL (preferido), não o modelo atual praticado hoje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isso é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confirmado na legenda da própria visualização.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Sênior é proporcionalmente mais presente no Sul (29,2%) e Sudeste (28,2%) do que no Centro-Oeste (25,1%)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concluindo que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os grandes centros concentram também a maior senioridade.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Júnior é mais presente no Sudeste (16,3%) e menos no Norte (22,6%) e Centro-Oeste (20,6%)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devido a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regiões fora do eixo principal têm perfil etário/carreira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júnior relativo.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No modelo IDEAL por região, 100% remoto é maioria absoluta em quase todas as regiões (38-47%)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sendo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inclusive onde o modelo atual já é mais presencial.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Sudeste é a região com maior preferência por híbrido flexível como ideal (43,8%), bem acima das demais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isso é um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sinal de que o mercado mais maduro tolera menos o remoto puro.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687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política de trabalho não deveria ser única para todo o Brasil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 preferência regional por modelo varia mais do que a política corporativa média costuma reconhecer.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solidFill>
            <a:srgbClr val="0F7C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57200" y="38404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OPORTUNIDADES E DESAFIOS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Quais oportunidades e desafios para empresas que querem investir em Dados e IA?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review/crop_desafio_banco_dados.png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3931920" cy="2276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faixa_salarial_regiao.png" id="184" name="Google Shape;1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508760"/>
            <a:ext cx="3931920" cy="24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review/crop_desafio_adocao_ia.png" id="185" name="Google Shape;1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05656"/>
            <a:ext cx="8046720" cy="139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457200" y="5577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Tabelas de calor mostram a distribuição percentual de cada resposta por região — quanto mais escura a célula, maior a concentração.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8686800" y="1508760"/>
            <a:ext cx="3044952" cy="450799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8869680" y="1655064"/>
            <a:ext cx="2679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C82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0F7C82"/>
                </a:solidFill>
                <a:latin typeface="Calibri"/>
                <a:ea typeface="Calibri"/>
                <a:cs typeface="Calibri"/>
                <a:sym typeface="Calibri"/>
              </a:rPr>
              <a:t>Leitura dos dados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8869680" y="2011680"/>
            <a:ext cx="2679192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Adoção de IA é forte em todas as regiões (53-65% 'Utiliza IA'), sem grande diferença regional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, indicando que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 barreira não é geográfica.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Faixas salariais mais altas (R$ 8-12 mil) concentram-se mais em Sudeste e Sul (~21%) que nas demais regiões.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14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Recomendação: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investir em IA e capacitação técnica funciona em qualquer região </a:t>
            </a: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devido ao fato de que</a:t>
            </a:r>
            <a:r>
              <a:rPr b="0" i="0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a maior barreira é a falta de padronização de resposta/dado, não a adoção em si.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Recomendações estratégicas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563903" y="1151550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792503" y="128871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Contratação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92503" y="170019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Priorizar Analista, Cientista e Engenheiro de Dados como núcleo; Python + SQL como requisito-base.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233183" y="1151550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461783" y="128871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Remuneração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461783" y="1700190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Revisar bandas de Pleno — a compressão frente a Sênior é real e pode gerar fricção de retenção.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63903" y="2952918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792503" y="3090078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Diversidade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92503" y="3501558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Metas ativas de diversidade de gênero, com atenção especial a regiões fora do Sudeste, onde o desequilíbrio é maior.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233183" y="2952918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6461783" y="3090078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IA Generativa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6461783" y="3501558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Formalizar governança de IA agora — o uso pessoal (98%) já superou de longe a priorização institucional (60%).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63903" y="4754286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792503" y="4891446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Modelo de trabalho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792503" y="5302926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Regionalizar a política de trabalho — a preferência por modelo varia mais entre regiões do que a média corporativa reconhece.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233183" y="4754286"/>
            <a:ext cx="5394900" cy="1600200"/>
          </a:xfrm>
          <a:prstGeom prst="roundRect">
            <a:avLst>
              <a:gd fmla="val 3429" name="adj"/>
            </a:avLst>
          </a:prstGeom>
          <a:solidFill>
            <a:srgbClr val="132A4D"/>
          </a:solidFill>
          <a:ln cap="flat" cmpd="sng" w="9525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461783" y="4891446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Expansão geográfica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461783" y="5302926"/>
            <a:ext cx="493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Investir em capacitação e IA funciona em qualquer região — a barreira real é padronização de dado, não adoção.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365760" y="653796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Tech Challenge Fase 3 — Big Data &amp; Analytics | State of Data Brasil 2023–2025/26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731525" y="3429000"/>
            <a:ext cx="88698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Pipeline completo, DDLs do Athena e notebooks originais disponíveis no repositório do projeto para reprodução e aprofundamento.</a:t>
            </a:r>
            <a:endParaRPr b="0" i="0" sz="1300" u="none" cap="none" strike="noStrike">
              <a:solidFill>
                <a:srgbClr val="C7D0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C7D0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Link do Github: </a:t>
            </a:r>
            <a:r>
              <a:rPr lang="en-US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https://github.com/tatireginas/tech_challenge_fase_3</a:t>
            </a:r>
            <a:r>
              <a:rPr lang="en-US" sz="1300">
                <a:solidFill>
                  <a:srgbClr val="C7D0D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C7D0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2026-09-14T17:09:02Z</dcterms:created>
  <dc:creator>PptxGenJS</dc:creator>
</cp:coreProperties>
</file>